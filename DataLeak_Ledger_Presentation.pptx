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59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  <a:latin typeface="Inter"/>
              </a:defRPr>
            </a:pPr>
            <a:r>
              <a:t>COLLEGE SEMESTER PROJECT DEFENSE</a:t>
            </a:r>
          </a:p>
          <a:p>
            <a:pPr>
              <a:defRPr sz="4000" b="1">
                <a:solidFill>
                  <a:srgbClr val="FFFFFF"/>
                </a:solidFill>
                <a:latin typeface="Inter"/>
              </a:defRPr>
            </a:pPr>
            <a:r>
              <a:t>DataLeak Ledger</a:t>
            </a:r>
          </a:p>
          <a:p>
            <a:pPr>
              <a:spcBef>
                <a:spcPts val="800"/>
              </a:spcBef>
              <a:defRPr sz="2000" b="0">
                <a:solidFill>
                  <a:srgbClr val="3B82F6"/>
                </a:solidFill>
                <a:latin typeface="Inter"/>
              </a:defRPr>
            </a:pPr>
            <a:r>
              <a:t>Blockchain-Backed Document Audit &amp; Forensic Steganography Platform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Solving Privileged Database Log Tampering &amp; Untraceable Copy-Paste Exfiltration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725912" cy="164592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1E3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Project &amp; Architecture Specifications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EVM Smart Contracts (Solidity 0.8.24) + Zero-Width Unicode Steganography + React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Author / Presenter: Johaan Sam Sanil  |  Course: Blockchain Architecture &amp; Cryptography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Core Stack: Solidity 0.8.24, Hardhat, ethers.js v6, Node.js CSPRNG, React 18, Tailwind CSS</a:t>
            </a:r>
          </a:p>
          <a:p>
            <a:pPr>
              <a:spcBef>
                <a:spcPts val="400"/>
              </a:spcBef>
              <a:defRPr sz="1100">
                <a:solidFill>
                  <a:srgbClr val="10B981"/>
                </a:solidFill>
              </a:defRPr>
            </a:pPr>
            <a:r>
              <a:t>• Verification Status: 26 Automated Unit Tests Passing (20 Smart Contract + 6 Forensic Tests)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Problem Statement: The Failure of Conventional Document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Vulnerability 1: Privileged Log Tampering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The Centralized Database Paradox (PostgreSQL / SQL)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Single Point of Trust: </a:t>
            </a:r>
            <a:r>
              <a:rPr b="0">
                <a:solidFill>
                  <a:srgbClr val="E2E8F0"/>
                </a:solidFill>
              </a:rPr>
              <a:t>Audit logs reside in traditional SQL tables.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Rogue Administrator Risk: </a:t>
            </a:r>
            <a:r>
              <a:rPr b="0">
                <a:solidFill>
                  <a:srgbClr val="E2E8F0"/>
                </a:solidFill>
              </a:rPr>
              <a:t>Anyone with DBA or root credentials can silently execute SQL updates or deletes without leaving cryptographic evidence.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Arbitrary Backdating: </a:t>
            </a:r>
            <a:r>
              <a:rPr b="0">
                <a:solidFill>
                  <a:srgbClr val="E2E8F0"/>
                </a:solidFill>
              </a:rPr>
              <a:t>Timestamps can be modified retroactively to falsify corporate compliance.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No Non-Repudiation: </a:t>
            </a:r>
            <a:r>
              <a:rPr b="0">
                <a:solidFill>
                  <a:srgbClr val="E2E8F0"/>
                </a:solidFill>
              </a:rPr>
              <a:t>Conventional access logs fail legal scrutiny because they lack cryptographic signatures.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Vulnerability 2: Untraceable Text Leaks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The Copy-Paste Exfiltration Gap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Visual Watermarks Fail: </a:t>
            </a:r>
            <a:r>
              <a:rPr b="0">
                <a:solidFill>
                  <a:srgbClr val="E2E8F0"/>
                </a:solidFill>
              </a:rPr>
              <a:t>Diagonal stamps, headers, and barcodes disappear the moment text is copied into a clipboard.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Indistinguishable Copies: </a:t>
            </a:r>
            <a:r>
              <a:rPr b="0">
                <a:solidFill>
                  <a:srgbClr val="E2E8F0"/>
                </a:solidFill>
              </a:rPr>
              <a:t>Conventional servers issue identical document files to all authorized users.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Attribution Failure: </a:t>
            </a:r>
            <a:r>
              <a:rPr b="0">
                <a:solidFill>
                  <a:srgbClr val="E2E8F0"/>
                </a:solidFill>
              </a:rPr>
              <a:t>When a leaked paragraph surfaces in an email or public forum, standard access logs show who downloaded the file, but CANNOT prove which issued copy it originated from.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The Need: </a:t>
            </a:r>
            <a:r>
              <a:rPr b="0">
                <a:solidFill>
                  <a:srgbClr val="E2E8F0"/>
                </a:solidFill>
              </a:rPr>
              <a:t>Invisibly unique fingerprinting that survives copy-pasting and binds mathematically to an on-chain receipt.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System Solution: Hybrid On-Chain / Off-Chain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1. React Frontend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Cybersecurity UI &amp; Telemetry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Vite + React 18 + TypeScript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Role-aware dashboards: Admin vs Authorized Employee.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On-chain access management with real-time toggle.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Forensic Attribution Portal with text payload scanner.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EVM Block Explorer &amp; Chronological Audit Timeline.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Instant WebSocket alerts on permission revocation.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2. Backend &amp; Forensics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Atomic Enforcement Layer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Express.js + TypeScript REST Gateway.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Deterministic text canonicalization (CRLF/LF).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Node.js CSPRNG 256-bit token generator.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Zero-Width Unicode encoder (​, ‌).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Ethers.js v6 contract client &amp; Socket.IO listener.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Enforces live on-chain hasAccess() before serving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3. DataLeakLedger.sol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EVM Smart Contract Core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Solidity 0.8.24 + OpenZeppelin AccessControl.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Authoritative single source of truth.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Stores canonical SHA-256 document fingerprints.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Immutable version tree (previousHash chaining).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Dynamic permission mapping (hasAccess).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• Stores Keccak-256 issuance commitments.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Why Blockchain? Decentralized Authority &amp; Economics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Blockchain as Supreme Authority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Replacing Trust in Humans with Cryptography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Tamper-Proof Immutability: </a:t>
            </a:r>
            <a:r>
              <a:rPr b="0">
                <a:solidFill>
                  <a:srgbClr val="E2E8F0"/>
                </a:solidFill>
              </a:rPr>
              <a:t>Every block is sealed with parentHash. Modifying historical records breaks the cryptographic hash chain.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Non-Repudiation: </a:t>
            </a:r>
            <a:r>
              <a:rPr b="0">
                <a:solidFill>
                  <a:srgbClr val="E2E8F0"/>
                </a:solidFill>
              </a:rPr>
              <a:t>All transactions are cryptographically signed using ECDSA (secp256k1). Signers cannot deny their actions.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Deterministic State Machine: </a:t>
            </a:r>
            <a:r>
              <a:rPr b="0">
                <a:solidFill>
                  <a:srgbClr val="E2E8F0"/>
                </a:solidFill>
              </a:rPr>
              <a:t>EVM bytecode execution is mathematically uniform across all nodes.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Bloom Filter Auditing: </a:t>
            </a:r>
            <a:r>
              <a:rPr b="0">
                <a:solidFill>
                  <a:srgbClr val="E2E8F0"/>
                </a:solidFill>
              </a:rPr>
              <a:t>EVM events (FileRegistered, IssuanceRecorded) create append-only logs for sub-millisecond filtering.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Gas &amp; Storage Economics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Why Raw Files Remain Off-Chain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The Gas Reality: </a:t>
            </a:r>
            <a:r>
              <a:rPr b="0">
                <a:solidFill>
                  <a:srgbClr val="E2E8F0"/>
                </a:solidFill>
              </a:rPr>
              <a:t>Storing 1 MB of data on Ethereum costs ~640 million gas (SSTORE opcodes). It is economically prohibitive.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The Privacy Reality: </a:t>
            </a:r>
            <a:r>
              <a:rPr b="0">
                <a:solidFill>
                  <a:srgbClr val="E2E8F0"/>
                </a:solidFill>
              </a:rPr>
              <a:t>All EVM contract storage is public to node operators. Storing confidential corporate text on-chain violates privacy and GDPR laws.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Our 32-Byte Solution: </a:t>
            </a:r>
            <a:r>
              <a:rPr b="0">
                <a:solidFill>
                  <a:srgbClr val="E2E8F0"/>
                </a:solidFill>
              </a:rPr>
              <a:t>We store only 32-byte cryptographic fingerprints (bytes32 contentHash and bytes32 commitment).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Cost: </a:t>
            </a:r>
            <a:r>
              <a:rPr b="0">
                <a:solidFill>
                  <a:srgbClr val="E2E8F0"/>
                </a:solidFill>
              </a:rPr>
              <a:t>A fixed ~45,000 gas per registration regardless of document size (1 KB or 500 MB). Complete confidentiality preserved.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Smart Contract Deep-Dive: DataLeakLedger.sol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Role-Based Access &amp; Functions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OpenZeppelin AccessControl Architecture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ADMIN_ROLE: </a:t>
            </a:r>
            <a:r>
              <a:rPr b="0">
                <a:solidFill>
                  <a:srgbClr val="E2E8F0"/>
                </a:solidFill>
              </a:rPr>
              <a:t>Restricted to document registrar. Manages lifecycle.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ISSUER_ROLE: </a:t>
            </a:r>
            <a:r>
              <a:rPr b="0">
                <a:solidFill>
                  <a:srgbClr val="E2E8F0"/>
                </a:solidFill>
              </a:rPr>
              <a:t>Restricted to trusted backend signing service for commitments.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registerDocument(): </a:t>
            </a:r>
            <a:r>
              <a:rPr b="0">
                <a:solidFill>
                  <a:srgbClr val="E2E8F0"/>
                </a:solidFill>
              </a:rPr>
              <a:t>Binds bytes32 documentId to canonical SHA-256 hash. Rejects duplicate IDs.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addVersion(): </a:t>
            </a:r>
            <a:r>
              <a:rPr b="0">
                <a:solidFill>
                  <a:srgbClr val="E2E8F0"/>
                </a:solidFill>
              </a:rPr>
              <a:t>Increments version, stores new hash, links previousHash.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grantAccess() / revokeAccess(): </a:t>
            </a:r>
            <a:r>
              <a:rPr b="0">
                <a:solidFill>
                  <a:srgbClr val="E2E8F0"/>
                </a:solidFill>
              </a:rPr>
              <a:t>Controls per-document permissions on-chain.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hasAccess(): </a:t>
            </a:r>
            <a:r>
              <a:rPr b="0">
                <a:solidFill>
                  <a:srgbClr val="E2E8F0"/>
                </a:solidFill>
              </a:rPr>
              <a:t>Constant-time O(1) live view check for downloads.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Issuance Registry &amp; Gas Optimization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Cryptographic Commitments &amp; Solidity 0.8.24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recordIssuance(): </a:t>
            </a:r>
            <a:r>
              <a:rPr b="0">
                <a:solidFill>
                  <a:srgbClr val="E2E8F0"/>
                </a:solidFill>
              </a:rPr>
              <a:t>Records issuanceCommitment, docId, version, userAddress. Crucial Guard: Reverts with AccessDenied if user has no active permission.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Commitment Uniqueness: </a:t>
            </a:r>
            <a:r>
              <a:rPr b="0">
                <a:solidFill>
                  <a:srgbClr val="E2E8F0"/>
                </a:solidFill>
              </a:rPr>
              <a:t>Guarantees no two downloads share the same cryptographic token.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Custom Errors vs Strings: </a:t>
            </a:r>
            <a:r>
              <a:rPr b="0">
                <a:solidFill>
                  <a:srgbClr val="E2E8F0"/>
                </a:solidFill>
              </a:rPr>
              <a:t>Uses 4-byte custom error selectors (e.g. error DocumentNotFound(bytes32)) saving substantial deployment and transaction gas compared to strings.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Indexed Event Logs: </a:t>
            </a:r>
            <a:r>
              <a:rPr b="0">
                <a:solidFill>
                  <a:srgbClr val="E2E8F0"/>
                </a:solidFill>
              </a:rPr>
              <a:t>Emits FileRegistered, VersionAdded, AccessGranted, AccessRevoked, IssuanceRecorded.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Integrity Assurance: Deterministic Canonicalization &amp; Version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Deterministic Canonical Hashing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Overcoming Cross-Platform Discrepancies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The Challenge: </a:t>
            </a:r>
            <a:r>
              <a:rPr b="0">
                <a:solidFill>
                  <a:srgbClr val="E2E8F0"/>
                </a:solidFill>
              </a:rPr>
              <a:t>Windows uses CRLF (\r\n), Mac/Linux use LF (\n). Invisible trailing line spaces alter SHA-256 hashes completely (Avalanche effect).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Our Canonical Pipeline: </a:t>
            </a:r>
            <a:r>
              <a:rPr b="0">
                <a:solidFill>
                  <a:srgbClr val="E2E8F0"/>
                </a:solidFill>
              </a:rPr>
              <a:t>1. Convert \r\n and \r to standard \n.
2. Strip trailing whitespace from every line.
3. Trim leading and trailing empty document newlines.
4. Encode as UTF-8.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Security Guarantee: </a:t>
            </a:r>
            <a:r>
              <a:rPr b="0">
                <a:solidFill>
                  <a:srgbClr val="E2E8F0"/>
                </a:solidFill>
              </a:rPr>
              <a:t>Identical text yields the exact same SHA-256 hash regardless of OS. If a single character is modified, the hash mismatch is immediately caught.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Immutable Version Tree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Historical Preservation via Hash Pointers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Version 1 (Initial): </a:t>
            </a:r>
            <a:r>
              <a:rPr b="0">
                <a:solidFill>
                  <a:srgbClr val="E2E8F0"/>
                </a:solidFill>
              </a:rPr>
              <a:t>contentHash = SHA256(v1), previousHash = 0x0.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Version 2 (Revision): </a:t>
            </a:r>
            <a:r>
              <a:rPr b="0">
                <a:solidFill>
                  <a:srgbClr val="E2E8F0"/>
                </a:solidFill>
              </a:rPr>
              <a:t>contentHash = SHA256(v2), previousHash = SHA256(v1).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Version N (Chain): </a:t>
            </a:r>
            <a:r>
              <a:rPr b="0">
                <a:solidFill>
                  <a:srgbClr val="E2E8F0"/>
                </a:solidFill>
              </a:rPr>
              <a:t>Forms an immutable on-chain linked chain of document revisions.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Preservation Rule: </a:t>
            </a:r>
            <a:r>
              <a:rPr b="0">
                <a:solidFill>
                  <a:srgbClr val="E2E8F0"/>
                </a:solidFill>
              </a:rPr>
              <a:t>Historical versions are NEVER overwritten. Earlier issued document copies retain valid references to their exact original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Security Engine: Cryptographic Token Commitment Scheme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CSPRNG Token Generation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256-Bit True Entropy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High Entropy: </a:t>
            </a:r>
            <a:r>
              <a:rPr b="0">
                <a:solidFill>
                  <a:srgbClr val="E2E8F0"/>
                </a:solidFill>
              </a:rPr>
              <a:t>Every download generates a fresh 256-bit (32-byte) random token T using Node.js crypto.randomBytes(32).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No Math.random(): </a:t>
            </a:r>
            <a:r>
              <a:rPr b="0">
                <a:solidFill>
                  <a:srgbClr val="E2E8F0"/>
                </a:solidFill>
              </a:rPr>
              <a:t>Math.random() is pseudo-random and vulnerable to seed prediction. CSPRNG draws entropy directly from the OS kernel (/dev/urandom).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Uniqueness: </a:t>
            </a:r>
            <a:r>
              <a:rPr b="0">
                <a:solidFill>
                  <a:srgbClr val="E2E8F0"/>
                </a:solidFill>
              </a:rPr>
              <a:t>Collision probability across 256 bits is 1 in 2^128 (virtually impossible).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Volatile Life: </a:t>
            </a:r>
            <a:r>
              <a:rPr b="0">
                <a:solidFill>
                  <a:srgbClr val="E2E8F0"/>
                </a:solidFill>
              </a:rPr>
              <a:t>The raw token T is held in volatile memory only during PDF/Text rendering and never logged.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The One-Way Commitment (C = Keccak256(T))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Zero-Knowledge Attribution Guarantee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The Mathematical Commitment: </a:t>
            </a:r>
            <a:r>
              <a:rPr b="0">
                <a:solidFill>
                  <a:srgbClr val="E2E8F0"/>
                </a:solidFill>
              </a:rPr>
              <a:t>C = Keccak256(T). Only C is sent to the blockchain.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Pre-Image Resistance: </a:t>
            </a:r>
            <a:r>
              <a:rPr b="0">
                <a:solidFill>
                  <a:srgbClr val="E2E8F0"/>
                </a:solidFill>
              </a:rPr>
              <a:t>It is computationally infeasible to deduce T from C. Even an attacker with complete access to the blockchain cannot extract T.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Framing Prevention: </a:t>
            </a:r>
            <a:r>
              <a:rPr b="0">
                <a:solidFill>
                  <a:srgbClr val="E2E8F0"/>
                </a:solidFill>
              </a:rPr>
              <a:t>If raw tokens were stored in a database, a rogue administrator could steal Bob's token and plant it in a forged leak. By storing only C, innocent users cannot be framed.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Binding Property: </a:t>
            </a:r>
            <a:r>
              <a:rPr b="0">
                <a:solidFill>
                  <a:srgbClr val="E2E8F0"/>
                </a:solidFill>
              </a:rPr>
              <a:t>Once C is mined on-chain, the issuer cannot alter the token associated with that download.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Forensic Watermarking: Zero-Width Unicode Steganography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Invisible Code Point Mapping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Converting 256 Bits into Non-Printing Characters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\u200B (Zero Width Space): </a:t>
            </a:r>
            <a:r>
              <a:rPr b="0">
                <a:solidFill>
                  <a:srgbClr val="E2E8F0"/>
                </a:solidFill>
              </a:rPr>
              <a:t>Represents binary bit '0'.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\u200C (Zero Width Non-Joiner): </a:t>
            </a:r>
            <a:r>
              <a:rPr b="0">
                <a:solidFill>
                  <a:srgbClr val="E2E8F0"/>
                </a:solidFill>
              </a:rPr>
              <a:t>Represents binary bit '1'.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\uFEFF (Zero Width No-Break Space / BOM): </a:t>
            </a:r>
            <a:r>
              <a:rPr b="0">
                <a:solidFill>
                  <a:srgbClr val="E2E8F0"/>
                </a:solidFill>
              </a:rPr>
              <a:t>START frame delimiter.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\u2060 (Word Joiner): </a:t>
            </a:r>
            <a:r>
              <a:rPr b="0">
                <a:solidFill>
                  <a:srgbClr val="E2E8F0"/>
                </a:solidFill>
              </a:rPr>
              <a:t>END frame delimiter.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Frame Payload: </a:t>
            </a:r>
            <a:r>
              <a:rPr b="0">
                <a:solidFill>
                  <a:srgbClr val="E2E8F0"/>
                </a:solidFill>
              </a:rPr>
              <a:t>1 Start + 256 Bits + 1 End = 258 invisible characters.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Human Perception: </a:t>
            </a:r>
            <a:r>
              <a:rPr b="0">
                <a:solidFill>
                  <a:srgbClr val="E2E8F0"/>
                </a:solidFill>
              </a:rPr>
              <a:t>Completely invisible to human readers; renders 0 width in browsers, Word, PDF, and text editors.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Multi-Paragraph Redundancy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Resilience Against Partial Text Leaks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The Exfiltration Reality: </a:t>
            </a:r>
            <a:r>
              <a:rPr b="0">
                <a:solidFill>
                  <a:srgbClr val="E2E8F0"/>
                </a:solidFill>
              </a:rPr>
              <a:t>Leakers rarely copy an entire 50-page document. They copy a single juicy paragraph.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Our Defense Strategy: </a:t>
            </a:r>
            <a:r>
              <a:rPr b="0">
                <a:solidFill>
                  <a:srgbClr val="E2E8F0"/>
                </a:solidFill>
              </a:rPr>
              <a:t>The engine embeds a full 258-character marker frame at the end of EVERY paragraph.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Full Leak Recovery: </a:t>
            </a:r>
            <a:r>
              <a:rPr b="0">
                <a:solidFill>
                  <a:srgbClr val="E2E8F0"/>
                </a:solidFill>
              </a:rPr>
              <a:t>If user copies 100% of the document -&gt; 100% extracted.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Partial Leak Recovery: </a:t>
            </a:r>
            <a:r>
              <a:rPr b="0">
                <a:solidFill>
                  <a:srgbClr val="E2E8F0"/>
                </a:solidFill>
              </a:rPr>
              <a:t>If user copies ONLY Paragraph 2 -&gt; The entire 256-bit token is still 100% recovered and matched on-chain!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Parser Robustness: </a:t>
            </a:r>
            <a:r>
              <a:rPr b="0">
                <a:solidFill>
                  <a:srgbClr val="E2E8F0"/>
                </a:solidFill>
              </a:rPr>
              <a:t>Handles truncated frames, malformed bits, and strips invisible characters on demand.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Atomic Enforcement: The Verified Download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5912" cy="82296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1: Auth Verification — JWT Bearer token authenticated; resolves user's Ethereum wallet address.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725912" cy="82296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2: Live On-Chain Check — Backend queries DataLeakLedger.hasAccess(docId, user). If revoked -&gt; HTTP 403 Forbidden.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725912" cy="82296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3: Cryptographic Issuance — Generates 256-bit CSPRNG token T and computes commitment C = Keccak256(T).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10725912" cy="82296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4: Mined On-Chain Receipt — Submits recordIssuance(C, docId, version, user). Awaits receipt (status == 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725912" cy="82296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5: Dynamic Watermarking — Embeds token T into text/PDF using zero-width characters and streams file to client.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Forensic Attribution: Catching the Leaker Step-by-Step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1. Extraction Pipeline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Reconstructing the 256-Bit Token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Delimiter Detection: </a:t>
            </a:r>
            <a:r>
              <a:rPr b="0">
                <a:solidFill>
                  <a:srgbClr val="E2E8F0"/>
                </a:solidFill>
              </a:rPr>
              <a:t>Parser scans pasted text for \uFEFF (START) and \u2060 (END).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Bit Stream Parsing: </a:t>
            </a:r>
            <a:r>
              <a:rPr b="0">
                <a:solidFill>
                  <a:srgbClr val="E2E8F0"/>
                </a:solidFill>
              </a:rPr>
              <a:t>\u200B -&gt; '0', \u200C -&gt; '1'. Validates bit length == 256.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Hex Reconstruction: </a:t>
            </a:r>
            <a:r>
              <a:rPr b="0">
                <a:solidFill>
                  <a:srgbClr val="E2E8F0"/>
                </a:solidFill>
              </a:rPr>
              <a:t>Converts 256 bits into 32-byte hex token string T.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One-Way Hash: </a:t>
            </a:r>
            <a:r>
              <a:rPr b="0">
                <a:solidFill>
                  <a:srgbClr val="E2E8F0"/>
                </a:solidFill>
              </a:rPr>
              <a:t>Computes C = Keccak256(T).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EVM Query: </a:t>
            </a:r>
            <a:r>
              <a:rPr b="0">
                <a:solidFill>
                  <a:srgbClr val="E2E8F0"/>
                </a:solidFill>
              </a:rPr>
              <a:t>Calls DataLeakLedger.getIssuance(C).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2. Positive Attribution Match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Irrefutable Forensic Evidence Returned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Recipient Identity: </a:t>
            </a:r>
            <a:r>
              <a:rPr b="0">
                <a:solidFill>
                  <a:srgbClr val="E2E8F0"/>
                </a:solidFill>
              </a:rPr>
              <a:t>Returns exact wallet address (e.g. Alice: 0x3C44...93BC) and username.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Document Trace: </a:t>
            </a:r>
            <a:r>
              <a:rPr b="0">
                <a:solidFill>
                  <a:srgbClr val="E2E8F0"/>
                </a:solidFill>
              </a:rPr>
              <a:t>Identifies document ID and exact version number (e.g. v1).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Proof of Time: </a:t>
            </a:r>
            <a:r>
              <a:rPr b="0">
                <a:solidFill>
                  <a:srgbClr val="E2E8F0"/>
                </a:solidFill>
              </a:rPr>
              <a:t>Returns exact block timestamp when the copy was issued.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Transaction Audit: </a:t>
            </a:r>
            <a:r>
              <a:rPr b="0">
                <a:solidFill>
                  <a:srgbClr val="E2E8F0"/>
                </a:solidFill>
              </a:rPr>
              <a:t>Returns mined transaction hash on the Ethereum ledger.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Live Demonstration Walkthrough: The 7-Step Viva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5912" cy="621792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1: Admin Registers Document: Uploads sample-policy.md; canonical SHA-256 hash mined in Block #1.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66544"/>
            <a:ext cx="10725912" cy="621792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2: Admin Grants Access to Alice: Calls grantAccess(docId, aliceAddress) on DataLeakLedger contract.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61488"/>
            <a:ext cx="10725912" cy="621792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3: Alice Downloads File: Backend verifies contract state, commits Keccak-256 hash, and watermarks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56432"/>
            <a:ext cx="10725912" cy="621792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4: Alice Simulates Text Leak: Copies a text snippet containing invisible zero-width characters.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51376"/>
            <a:ext cx="10725912" cy="621792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5: Forensic Match: Admin pastes leaked text into Forensic Portal -&gt; Matched to Alice's wallet &amp; Block #X!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5912" cy="621792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6: Revoke Access &amp; Block: Admin revokes Alice; WebSockets update Alice's UI to NO ACCESS. Next download blocked!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41264"/>
            <a:ext cx="10725912" cy="621792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Step 7: Blockchain Explorer: Inspect blocks, hashes, transaction receipts, and emitted event logs live on-chain.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Inter"/>
              </a:defRPr>
            </a:pPr>
            <a:r>
              <a:t>DATALEAK LEDGER | BLOCKCHAIN &amp; 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nter"/>
              </a:defRPr>
            </a:pPr>
            <a:r>
              <a:t>Viva Defense: Limitations &amp; Enterprise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What It Proves vs. Limitations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Academic Honesty &amp; Boundary Clarity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What It Mathematically Proves: </a:t>
            </a:r>
            <a:r>
              <a:rPr b="0">
                <a:solidFill>
                  <a:srgbClr val="E2E8F0"/>
                </a:solidFill>
              </a:rPr>
              <a:t>The leaked text contains a cryptographic token whose commitment was mined on-chain when a specific copy was issued to Alice's wallet.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The Analog Hole: </a:t>
            </a:r>
            <a:r>
              <a:rPr b="0">
                <a:solidFill>
                  <a:srgbClr val="E2E8F0"/>
                </a:solidFill>
              </a:rPr>
              <a:t>Photographing a computer screen or manually re-typing text on another keyboard bypasses zero-width Unicode characters.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Text Normalization: </a:t>
            </a:r>
            <a:r>
              <a:rPr b="0">
                <a:solidFill>
                  <a:srgbClr val="E2E8F0"/>
                </a:solidFill>
              </a:rPr>
              <a:t>Running text through regex filters that explicitly strip non-printable characters removes the watermark.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Device Ownership: </a:t>
            </a:r>
            <a:r>
              <a:rPr b="0">
                <a:solidFill>
                  <a:srgbClr val="E2E8F0"/>
                </a:solidFill>
              </a:rPr>
              <a:t>Proves the issuance was signed to Alice's wallet; cannot prove physical theft of Alice's laptop.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A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Consensus &amp; Enterprise Roadmap</a:t>
            </a:r>
          </a:p>
          <a:p>
            <a:pPr>
              <a:spcAft>
                <a:spcPts val="800"/>
              </a:spcAft>
              <a:defRPr sz="950">
                <a:solidFill>
                  <a:srgbClr val="06B6D4"/>
                </a:solidFill>
                <a:latin typeface="Inter"/>
              </a:defRPr>
            </a:pPr>
            <a:r>
              <a:t>Moving Beyond Local Hardhat to QBFT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Hardhat Distinction: </a:t>
            </a:r>
            <a:r>
              <a:rPr b="0">
                <a:solidFill>
                  <a:srgbClr val="E2E8F0"/>
                </a:solidFill>
              </a:rPr>
              <a:t>Hardhat local node simulates EVM execution and transaction mining for development, but does not run multi-validator Byzantine consensus.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Consortium Roadmap: </a:t>
            </a:r>
            <a:r>
              <a:rPr b="0">
                <a:solidFill>
                  <a:srgbClr val="E2E8F0"/>
                </a:solidFill>
              </a:rPr>
              <a:t>Deploy on Hyperledger Besu or GoQuorum running QBFT (Quorum Byzantine Fault Tolerance).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Independent Validators: </a:t>
            </a:r>
            <a:r>
              <a:rPr b="0">
                <a:solidFill>
                  <a:srgbClr val="E2E8F0"/>
                </a:solidFill>
              </a:rPr>
              <a:t>Auditors, Regulators, and Legal Counsel operate distinct validator nodes.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Conclusion: </a:t>
            </a:r>
            <a:r>
              <a:rPr b="0">
                <a:solidFill>
                  <a:srgbClr val="E2E8F0"/>
                </a:solidFill>
              </a:rPr>
              <a:t>DataLeak Ledger establishes a practical, highly demonstrable paradigm for tamper-evident document governance and forensic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